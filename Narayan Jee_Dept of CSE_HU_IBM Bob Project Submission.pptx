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2" r:id="rId10"/>
    <p:sldId id="264" r:id="rId11"/>
    <p:sldId id="290" r:id="rId12"/>
    <p:sldId id="292" r:id="rId13"/>
    <p:sldId id="293" r:id="rId14"/>
    <p:sldId id="286" r:id="rId15"/>
    <p:sldId id="298" r:id="rId16"/>
    <p:sldId id="280" r:id="rId17"/>
    <p:sldId id="288" r:id="rId18"/>
    <p:sldId id="294" r:id="rId19"/>
    <p:sldId id="295" r:id="rId20"/>
    <p:sldId id="296" r:id="rId21"/>
    <p:sldId id="297" r:id="rId22"/>
    <p:sldId id="27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del">
          <ac:chgData name="Aman Shrivastava" userId="S::ashrivastava@edunetfoundation.org::c21995ab-fa37-4cde-b5a3-dec0fb9e9a10" providerId="AD" clId="Web-{088AD18C-7811-B1E2-9ED5-57A1A5542DF6}" dt="2026-06-19T06:20:45.745" v="122"/>
          <ac:spMkLst>
            <pc:docMk/>
            <pc:sldMk cId="0" sldId="257"/>
            <ac:spMk id="2" creationId="{20FC1D0F-7927-693D-B3A8-BEEE7BBB2D18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02.481" v="214"/>
          <ac:spMkLst>
            <pc:docMk/>
            <pc:sldMk cId="0" sldId="257"/>
            <ac:spMk id="5" creationId="{8CF059D9-DCD7-9C47-2E79-C5986ADDD187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33.481" v="246"/>
          <ac:spMkLst>
            <pc:docMk/>
            <pc:sldMk cId="0" sldId="257"/>
            <ac:spMk id="6" creationId="{351EC9F7-1007-D29E-338A-EEE56747ED3E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5:23.585" v="76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del mod">
          <ac:chgData name="Aman Shrivastava" userId="S::ashrivastava@edunetfoundation.org::c21995ab-fa37-4cde-b5a3-dec0fb9e9a10" providerId="AD" clId="Web-{088AD18C-7811-B1E2-9ED5-57A1A5542DF6}" dt="2026-06-19T06:18:45.275" v="79"/>
          <ac:picMkLst>
            <pc:docMk/>
            <pc:sldMk cId="2115484872" sldId="277"/>
            <ac:picMk id="2" creationId="{E9DB3200-E2EC-A058-B02D-E1510060484E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8:46.790" v="80"/>
          <ac:picMkLst>
            <pc:docMk/>
            <pc:sldMk cId="2115484872" sldId="277"/>
            <ac:picMk id="3" creationId="{03614573-D426-9337-9C0E-5207B9123920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  <pc:inkChg chg="add del">
          <ac:chgData name="Aman Shrivastava" userId="S::ashrivastava@edunetfoundation.org::c21995ab-fa37-4cde-b5a3-dec0fb9e9a10" providerId="AD" clId="Web-{088AD18C-7811-B1E2-9ED5-57A1A5542DF6}" dt="2026-06-19T05:51:50.431" v="39"/>
          <ac:inkMkLst>
            <pc:docMk/>
            <pc:sldMk cId="2115484872" sldId="277"/>
            <ac:inkMk id="4" creationId="{339FEE3F-7BE8-8E7A-6A09-16BCB25AB1E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4.134" v="45"/>
          <ac:inkMkLst>
            <pc:docMk/>
            <pc:sldMk cId="2115484872" sldId="277"/>
            <ac:inkMk id="6" creationId="{A89955C5-BB88-2BD8-C3DC-B49AE1FA753F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634" v="44"/>
          <ac:inkMkLst>
            <pc:docMk/>
            <pc:sldMk cId="2115484872" sldId="277"/>
            <ac:inkMk id="7" creationId="{215511CE-958D-7751-754D-0682F725A052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275" v="43"/>
          <ac:inkMkLst>
            <pc:docMk/>
            <pc:sldMk cId="2115484872" sldId="277"/>
            <ac:inkMk id="8" creationId="{54C6AFEC-9CCE-EC84-7FBE-A4154B140DC8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1.150" v="81"/>
          <ac:inkMkLst>
            <pc:docMk/>
            <pc:sldMk cId="2115484872" sldId="277"/>
            <ac:inkMk id="9" creationId="{4288BD03-6EE6-7ADE-E088-246DCEBA2D0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3.494" v="82"/>
          <ac:inkMkLst>
            <pc:docMk/>
            <pc:sldMk cId="2115484872" sldId="277"/>
            <ac:inkMk id="10" creationId="{64412BAE-99D1-29B6-F8E0-FFAEAC5EF7C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06:19.409" v="69"/>
          <ac:inkMkLst>
            <pc:docMk/>
            <pc:sldMk cId="2115484872" sldId="277"/>
            <ac:inkMk id="11" creationId="{75A70817-4D26-F5D5-7B43-3BF146ADCFA3}"/>
          </ac:inkMkLst>
        </pc:ink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del">
          <ac:chgData name="Aman Shrivastava" userId="S::ashrivastava@edunetfoundation.org::c21995ab-fa37-4cde-b5a3-dec0fb9e9a10" providerId="AD" clId="Web-{088AD18C-7811-B1E2-9ED5-57A1A5542DF6}" dt="2026-06-19T06:09:56.270" v="70"/>
          <ac:picMkLst>
            <pc:docMk/>
            <pc:sldMk cId="2772501912" sldId="279"/>
            <ac:picMk id="3" creationId="{11BF3590-52D3-DC9D-2C84-E66D9597D77D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">
        <pc:chgData name="Aman Shrivastava" userId="S::ashrivastava@edunetfoundation.org::c21995ab-fa37-4cde-b5a3-dec0fb9e9a10" providerId="AD" clId="Web-{088AD18C-7811-B1E2-9ED5-57A1A5542DF6}" dt="2026-06-19T06:28:32.545" v="260"/>
        <pc:sldMkLst>
          <pc:docMk/>
          <pc:sldMk cId="4218467252" sldId="284"/>
        </pc:sldMkLst>
        <pc:inkChg chg="add">
          <ac:chgData name="Aman Shrivastava" userId="S::ashrivastava@edunetfoundation.org::c21995ab-fa37-4cde-b5a3-dec0fb9e9a10" providerId="AD" clId="Web-{088AD18C-7811-B1E2-9ED5-57A1A5542DF6}" dt="2026-06-19T06:02:12.187" v="49"/>
          <ac:inkMkLst>
            <pc:docMk/>
            <pc:sldMk cId="4218467252" sldId="284"/>
            <ac:inkMk id="4" creationId="{022D0B6B-16B4-5876-55B2-3ACEECC98828}"/>
          </ac:inkMkLst>
        </pc:ink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  <pc:spChg chg="add del">
          <ac:chgData name="Aman Shrivastava" userId="S::ashrivastava@edunetfoundation.org::c21995ab-fa37-4cde-b5a3-dec0fb9e9a10" providerId="AD" clId="Web-{088AD18C-7811-B1E2-9ED5-57A1A5542DF6}" dt="2026-06-19T05:52:06.978" v="46"/>
          <ac:spMkLst>
            <pc:docMk/>
            <pc:sldMk cId="2605851928" sldId="287"/>
            <ac:spMk id="2" creationId="{22776EB6-691D-8F86-ABF4-9D27BDFB77FE}"/>
          </ac:spMkLst>
        </pc:spChg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del">
          <ac:chgData name="Aman Shrivastava" userId="S::ashrivastava@edunetfoundation.org::c21995ab-fa37-4cde-b5a3-dec0fb9e9a10" providerId="AD" clId="Web-{088AD18C-7811-B1E2-9ED5-57A1A5542DF6}" dt="2026-06-19T05:41:05.877" v="1"/>
          <ac:spMkLst>
            <pc:docMk/>
            <pc:sldMk cId="1229047658" sldId="288"/>
            <ac:spMk id="2" creationId="{DF28AC7D-07EA-A945-E96E-15036A9DB45D}"/>
          </ac:spMkLst>
        </pc:spChg>
        <pc:spChg chg="del">
          <ac:chgData name="Aman Shrivastava" userId="S::ashrivastava@edunetfoundation.org::c21995ab-fa37-4cde-b5a3-dec0fb9e9a10" providerId="AD" clId="Web-{088AD18C-7811-B1E2-9ED5-57A1A5542DF6}" dt="2026-06-19T05:41:09.174" v="2"/>
          <ac:spMkLst>
            <pc:docMk/>
            <pc:sldMk cId="1229047658" sldId="288"/>
            <ac:spMk id="3" creationId="{6E0CE283-F2CE-BB1E-A169-02FBC85A94BA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5:48:40.427" v="14" actId="14100"/>
          <ac:picMkLst>
            <pc:docMk/>
            <pc:sldMk cId="1229047658" sldId="288"/>
            <ac:picMk id="4" creationId="{AD88C341-1F2F-9B6F-593F-2917E7E23DCB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5:48:32.318" v="12" actId="14100"/>
          <ac:picMkLst>
            <pc:docMk/>
            <pc:sldMk cId="1229047658" sldId="288"/>
            <ac:picMk id="5" creationId="{78BE1AD4-7C9B-6215-1BD9-9999437CD770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del">
          <ac:chgData name="Aswini Kumar Motapothula" userId="S::aswinikumar@edunetfoundation.org::8849ae8d-bc89-4217-899c-9440ffcae5bb" providerId="AD" clId="Web-{0037A25B-DA5D-A37C-3B36-7F0977405ABF}" dt="2026-06-19T05:52:55.794" v="1"/>
          <ac:spMkLst>
            <pc:docMk/>
            <pc:sldMk cId="1229047658" sldId="288"/>
            <ac:spMk id="2" creationId="{AEE9AF93-8291-7FBB-4169-9C96AABF542F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  <pc:picChg chg="mod">
          <ac:chgData name="Aswini Kumar Motapothula" userId="S::aswinikumar@edunetfoundation.org::8849ae8d-bc89-4217-899c-9440ffcae5bb" providerId="AD" clId="Web-{0037A25B-DA5D-A37C-3B36-7F0977405ABF}" dt="2026-06-19T05:54:10.419" v="46" actId="1076"/>
          <ac:picMkLst>
            <pc:docMk/>
            <pc:sldMk cId="1229047658" sldId="288"/>
            <ac:picMk id="4" creationId="{AD88C341-1F2F-9B6F-593F-2917E7E23DCB}"/>
          </ac:picMkLst>
        </pc:picChg>
        <pc:picChg chg="del mod">
          <ac:chgData name="Aswini Kumar Motapothula" userId="S::aswinikumar@edunetfoundation.org::8849ae8d-bc89-4217-899c-9440ffcae5bb" providerId="AD" clId="Web-{0037A25B-DA5D-A37C-3B36-7F0977405ABF}" dt="2026-06-19T05:54:19.904" v="49"/>
          <ac:picMkLst>
            <pc:docMk/>
            <pc:sldMk cId="1229047658" sldId="288"/>
            <ac:picMk id="5" creationId="{78BE1AD4-7C9B-6215-1BD9-9999437CD770}"/>
          </ac:picMkLst>
        </pc:pic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del">
          <ac:chgData name="Aswini Kumar Motapothula" userId="S::aswinikumar@edunetfoundation.org::8849ae8d-bc89-4217-899c-9440ffcae5bb" providerId="AD" clId="Web-{0037A25B-DA5D-A37C-3B36-7F0977405ABF}" dt="2026-06-19T05:54:27.466" v="53"/>
          <ac:spMkLst>
            <pc:docMk/>
            <pc:sldMk cId="2506610743" sldId="289"/>
            <ac:spMk id="2" creationId="{CB0171ED-6665-28B2-1F95-D5DB94297A27}"/>
          </ac:spMkLst>
        </pc:spChg>
        <pc:spChg chg="del">
          <ac:chgData name="Aswini Kumar Motapothula" userId="S::aswinikumar@edunetfoundation.org::8849ae8d-bc89-4217-899c-9440ffcae5bb" providerId="AD" clId="Web-{0037A25B-DA5D-A37C-3B36-7F0977405ABF}" dt="2026-06-19T05:54:30.450" v="54"/>
          <ac:spMkLst>
            <pc:docMk/>
            <pc:sldMk cId="2506610743" sldId="289"/>
            <ac:spMk id="3" creationId="{7D69201D-F352-BEC5-9310-979DE8898B63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4005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eNarayan/AI-Nutrition-Agen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407700846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Faculty </a:t>
                      </a:r>
                      <a:r>
                        <a:rPr lang="en-US" sz="1800" u="none" strike="noStrike" cap="none" dirty="0"/>
                        <a:t>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Narayan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Jee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narayan.btech@gmail.com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9031208697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730" y="3546764"/>
            <a:ext cx="1203415" cy="122067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</a:t>
            </a:r>
            <a:r>
              <a:rPr lang="en-US" sz="2400" b="1" dirty="0" smtClean="0">
                <a:highlight>
                  <a:srgbClr val="FFFF00"/>
                </a:highlight>
              </a:rPr>
              <a:t>Healthcare]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 smtClean="0">
                <a:highlight>
                  <a:srgbClr val="FFFF00"/>
                </a:highlight>
              </a:rPr>
              <a:t>[</a:t>
            </a:r>
            <a:r>
              <a:rPr lang="en-US" sz="2400" b="1" dirty="0" smtClean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cs typeface="Times New Roman"/>
                <a:sym typeface="Times New Roman"/>
              </a:rPr>
              <a:t>AI Nutrition Coach</a:t>
            </a:r>
            <a:r>
              <a:rPr lang="en-US" sz="2400" b="1" dirty="0" smtClean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957340"/>
            <a:ext cx="1060704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Statement: AI-Powered Nutrition Agent</a:t>
            </a:r>
          </a:p>
          <a:p>
            <a:endParaRPr lang="en-US" b="1" dirty="0" smtClean="0"/>
          </a:p>
          <a:p>
            <a:r>
              <a:rPr lang="en-US" b="1" dirty="0" smtClean="0"/>
              <a:t>Challenge: </a:t>
            </a:r>
            <a:endParaRPr lang="en-US" dirty="0"/>
          </a:p>
          <a:p>
            <a:r>
              <a:rPr lang="en-US" dirty="0"/>
              <a:t>Individuals struggle with diet planning, portion control, and nutrient tracking. </a:t>
            </a:r>
          </a:p>
          <a:p>
            <a:r>
              <a:rPr lang="en-US" dirty="0"/>
              <a:t>Reliable nutrition and disease-specific dietary information is scattered across multiple sources. </a:t>
            </a:r>
          </a:p>
          <a:p>
            <a:r>
              <a:rPr lang="en-US" dirty="0"/>
              <a:t>Lack of personalized, real-time guidance leads to unhealthy food choices and poor diet management. </a:t>
            </a:r>
          </a:p>
          <a:p>
            <a:endParaRPr lang="en-US" b="1" dirty="0" smtClean="0"/>
          </a:p>
          <a:p>
            <a:r>
              <a:rPr lang="en-US" b="1" dirty="0" smtClean="0"/>
              <a:t>Objective: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Develop an </a:t>
            </a:r>
            <a:r>
              <a:rPr lang="en-US" b="1" dirty="0"/>
              <a:t>AI-powered Nutrition Agent</a:t>
            </a:r>
            <a:r>
              <a:rPr lang="en-US" dirty="0"/>
              <a:t> that provides personalized dietary recommendations and nutrition management for individuals, families, and healthcare professionals.</a:t>
            </a:r>
          </a:p>
          <a:p>
            <a:endParaRPr lang="en-US" b="1" dirty="0" smtClean="0"/>
          </a:p>
          <a:p>
            <a:r>
              <a:rPr lang="en-US" b="1" dirty="0" smtClean="0"/>
              <a:t>Key Features:</a:t>
            </a:r>
            <a:endParaRPr lang="en-US" dirty="0"/>
          </a:p>
          <a:p>
            <a:r>
              <a:rPr lang="en-US" b="1" dirty="0"/>
              <a:t>Personalized Diet Plans:</a:t>
            </a:r>
            <a:r>
              <a:rPr lang="en-US" dirty="0"/>
              <a:t> Based on age, health conditions, allergies, cultural preferences, and fitness goals. </a:t>
            </a:r>
          </a:p>
          <a:p>
            <a:r>
              <a:rPr lang="en-US" b="1" dirty="0"/>
              <a:t>Nutrition Knowledge (RAG):</a:t>
            </a:r>
            <a:r>
              <a:rPr lang="en-US" dirty="0"/>
              <a:t> Retrieve and summarize reliable nutritional information (calories, macros, vitamins, minerals). </a:t>
            </a:r>
          </a:p>
          <a:p>
            <a:r>
              <a:rPr lang="en-US" b="1" dirty="0"/>
              <a:t>Smart Food Logging:</a:t>
            </a:r>
            <a:r>
              <a:rPr lang="en-US" dirty="0"/>
              <a:t> Record meals via text, image, or voice with instant nutritional analysis. </a:t>
            </a:r>
          </a:p>
          <a:p>
            <a:r>
              <a:rPr lang="en-US" b="1" dirty="0"/>
              <a:t>Preventive Health Support:</a:t>
            </a:r>
            <a:r>
              <a:rPr lang="en-US" dirty="0"/>
              <a:t> Recommend diets for chronic disease management (e.g., diabetes, heart health). </a:t>
            </a:r>
          </a:p>
          <a:p>
            <a:r>
              <a:rPr lang="en-US" b="1" dirty="0"/>
              <a:t>Multi-Agent Architecture: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Nutrition Knowledge Agent </a:t>
            </a:r>
          </a:p>
          <a:p>
            <a:pPr lvl="1"/>
            <a:r>
              <a:rPr lang="en-US" dirty="0"/>
              <a:t>Diet Recommendation Agent </a:t>
            </a:r>
          </a:p>
          <a:p>
            <a:pPr lvl="1"/>
            <a:r>
              <a:rPr lang="en-US" dirty="0"/>
              <a:t>Health Advisory Agent </a:t>
            </a:r>
          </a:p>
          <a:p>
            <a:pPr lvl="1"/>
            <a:r>
              <a:rPr lang="en-US" dirty="0"/>
              <a:t>Food Log &amp; Feedback Agent </a:t>
            </a:r>
          </a:p>
          <a:p>
            <a:r>
              <a:rPr lang="en-US" b="1" dirty="0"/>
              <a:t>Analytics Dashboard:</a:t>
            </a:r>
            <a:r>
              <a:rPr lang="en-US" dirty="0"/>
              <a:t> Visualize daily/weekly nutrient intake, deficiencies, calorie trends, and health progress. </a:t>
            </a:r>
          </a:p>
          <a:p>
            <a:endParaRPr lang="en-US" b="1" dirty="0" smtClean="0"/>
          </a:p>
          <a:p>
            <a:r>
              <a:rPr lang="en-US" b="1" dirty="0" smtClean="0"/>
              <a:t>Outcome: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An intelligent, AI-driven nutrition assistant that enables informed food choices, promotes healthier lifestyles, and supports preventive healthcare through personalized, evidence-based recommendations.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219171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</a:t>
            </a:r>
            <a:r>
              <a:rPr lang="en-US" sz="2400" b="1" dirty="0" smtClean="0"/>
              <a:t>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192875"/>
            <a:ext cx="938534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AI-Powered Nutrition Agent</a:t>
            </a:r>
          </a:p>
          <a:p>
            <a:endParaRPr lang="en-US" b="1" dirty="0" smtClean="0"/>
          </a:p>
          <a:p>
            <a:r>
              <a:rPr lang="en-US" b="1" dirty="0" smtClean="0"/>
              <a:t>Multi-Agent </a:t>
            </a:r>
            <a:r>
              <a:rPr lang="en-US" b="1" dirty="0"/>
              <a:t>AI System</a:t>
            </a:r>
            <a:r>
              <a:rPr lang="en-US" dirty="0"/>
              <a:t> built using </a:t>
            </a:r>
            <a:r>
              <a:rPr lang="en-US" b="1" dirty="0"/>
              <a:t>IBM Bob</a:t>
            </a:r>
            <a:r>
              <a:rPr lang="en-US" dirty="0"/>
              <a:t>, </a:t>
            </a:r>
            <a:r>
              <a:rPr lang="en-US" b="1" dirty="0"/>
              <a:t>IBM watsonx.ai</a:t>
            </a:r>
            <a:r>
              <a:rPr lang="en-US" dirty="0"/>
              <a:t>, and </a:t>
            </a:r>
            <a:r>
              <a:rPr lang="en-US" b="1" dirty="0"/>
              <a:t>Granite Models</a:t>
            </a:r>
            <a:r>
              <a:rPr lang="en-US" dirty="0"/>
              <a:t> for personalized, real-time nutrition guidance. </a:t>
            </a:r>
          </a:p>
          <a:p>
            <a:endParaRPr lang="en-US" b="1" dirty="0" smtClean="0"/>
          </a:p>
          <a:p>
            <a:r>
              <a:rPr lang="en-US" b="1" dirty="0" smtClean="0"/>
              <a:t>RAG-Based </a:t>
            </a:r>
            <a:r>
              <a:rPr lang="en-US" b="1" dirty="0"/>
              <a:t>Nutrition Engine</a:t>
            </a:r>
            <a:r>
              <a:rPr lang="en-US" dirty="0"/>
              <a:t> retrieves trusted food and nutrition data (e.g., USDA, WHO) using vector </a:t>
            </a:r>
            <a:r>
              <a:rPr lang="en-US" dirty="0" err="1"/>
              <a:t>embeddings</a:t>
            </a:r>
            <a:r>
              <a:rPr lang="en-US" dirty="0"/>
              <a:t> for accurate recommendations. </a:t>
            </a:r>
          </a:p>
          <a:p>
            <a:endParaRPr lang="en-US" b="1" dirty="0" smtClean="0"/>
          </a:p>
          <a:p>
            <a:r>
              <a:rPr lang="en-US" b="1" dirty="0" smtClean="0"/>
              <a:t>Four </a:t>
            </a:r>
            <a:r>
              <a:rPr lang="en-US" b="1" dirty="0"/>
              <a:t>Intelligent AI Agents: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Nutrition Knowledge Agent:</a:t>
            </a:r>
            <a:r>
              <a:rPr lang="en-US" dirty="0"/>
              <a:t> Retrieves &amp; summarizes nutritional information. </a:t>
            </a:r>
          </a:p>
          <a:p>
            <a:pPr lvl="1"/>
            <a:r>
              <a:rPr lang="en-US" b="1" dirty="0"/>
              <a:t>Diet Recommendation Agent:</a:t>
            </a:r>
            <a:r>
              <a:rPr lang="en-US" dirty="0"/>
              <a:t> Creates personalized meal plans based on user profile and health goals. </a:t>
            </a:r>
          </a:p>
          <a:p>
            <a:pPr lvl="1"/>
            <a:r>
              <a:rPr lang="en-US" b="1" dirty="0"/>
              <a:t>Health Advisory Agent:</a:t>
            </a:r>
            <a:r>
              <a:rPr lang="en-US" dirty="0"/>
              <a:t> Provides preventive and disease-specific dietary guidance. </a:t>
            </a:r>
          </a:p>
          <a:p>
            <a:pPr lvl="1"/>
            <a:r>
              <a:rPr lang="en-US" b="1" dirty="0"/>
              <a:t>Food Log &amp; Feedback Agent:</a:t>
            </a:r>
            <a:r>
              <a:rPr lang="en-US" dirty="0"/>
              <a:t> Analyzes meals logged via text, voice, or images and offers instant feedback. </a:t>
            </a:r>
          </a:p>
          <a:p>
            <a:r>
              <a:rPr lang="en-US" b="1" dirty="0"/>
              <a:t>Interactive Dashboard:</a:t>
            </a:r>
            <a:r>
              <a:rPr lang="en-US" dirty="0"/>
              <a:t> Displays calorie intake, nutrients, deficiencies, dietary trends, and progress toward health goals. </a:t>
            </a:r>
          </a:p>
          <a:p>
            <a:endParaRPr lang="en-US" b="1" dirty="0" smtClean="0"/>
          </a:p>
          <a:p>
            <a:r>
              <a:rPr lang="en-US" b="1" dirty="0" smtClean="0"/>
              <a:t>Technology </a:t>
            </a:r>
            <a:r>
              <a:rPr lang="en-US" b="1" dirty="0"/>
              <a:t>Stack: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IBM Bob:</a:t>
            </a:r>
            <a:r>
              <a:rPr lang="en-US" dirty="0"/>
              <a:t> Multi-agent orchestration </a:t>
            </a:r>
          </a:p>
          <a:p>
            <a:pPr lvl="1"/>
            <a:r>
              <a:rPr lang="en-US" b="1" dirty="0"/>
              <a:t>IBM watsonx.ai:</a:t>
            </a:r>
            <a:r>
              <a:rPr lang="en-US" dirty="0"/>
              <a:t> Model deployment, </a:t>
            </a:r>
            <a:r>
              <a:rPr lang="en-US" dirty="0" err="1"/>
              <a:t>embeddings</a:t>
            </a:r>
            <a:r>
              <a:rPr lang="en-US" dirty="0"/>
              <a:t>, and AI governance </a:t>
            </a:r>
          </a:p>
          <a:p>
            <a:pPr lvl="1"/>
            <a:r>
              <a:rPr lang="en-US" b="1" dirty="0"/>
              <a:t>Granite Models:</a:t>
            </a:r>
            <a:r>
              <a:rPr lang="en-US" dirty="0"/>
              <a:t> Reasoning, summarization, and personalization </a:t>
            </a:r>
          </a:p>
          <a:p>
            <a:endParaRPr lang="en-US" b="1" dirty="0" smtClean="0"/>
          </a:p>
          <a:p>
            <a:r>
              <a:rPr lang="en-US" b="1" dirty="0" smtClean="0"/>
              <a:t>Outcome</a:t>
            </a:r>
            <a:r>
              <a:rPr lang="en-US" b="1" dirty="0"/>
              <a:t>:</a:t>
            </a:r>
            <a:r>
              <a:rPr lang="en-US" dirty="0"/>
              <a:t> An end-to-end intelligent nutrition assistant that enables informed food choices, personalized diet planning, and preventive healthcare through AI-driven insights.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</a:t>
            </a:r>
            <a:r>
              <a:rPr lang="en-US" sz="2400" b="1" dirty="0" smtClean="0"/>
              <a:t>Solution: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For RAG-based nutritional data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Index.html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38907-89DE-28F7-316F-44E7DAB93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215" y="1936407"/>
            <a:ext cx="7868367" cy="43610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FFF7BC6-93D0-8D42-34B7-C226B1B96C2D}"/>
              </a:ext>
            </a:extLst>
          </p:cNvPr>
          <p:cNvSpPr/>
          <p:nvPr/>
        </p:nvSpPr>
        <p:spPr>
          <a:xfrm>
            <a:off x="4250700" y="2029968"/>
            <a:ext cx="5908284" cy="317232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7512A-0AA7-CC22-D1D2-C738BF126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969818"/>
            <a:ext cx="9448800" cy="552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A290A-6680-D490-E6D4-9336496B1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88" y="789708"/>
            <a:ext cx="10209090" cy="532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932CE2-F219-0CA8-0102-55B8C682B8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564" y="675732"/>
            <a:ext cx="7827818" cy="6181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028943"/>
            <a:ext cx="740664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Nutrition Agent</a:t>
            </a:r>
          </a:p>
          <a:p>
            <a:endParaRPr lang="en-US" b="1" dirty="0" smtClean="0"/>
          </a:p>
          <a:p>
            <a:r>
              <a:rPr lang="en-US" b="1" dirty="0" smtClean="0"/>
              <a:t>Autonomous </a:t>
            </a:r>
            <a:r>
              <a:rPr lang="en-US" b="1" dirty="0"/>
              <a:t>Multi-Agent Intelligence:</a:t>
            </a:r>
            <a:r>
              <a:rPr lang="en-US" dirty="0"/>
              <a:t> Agentic AI transforms the Nutrition Agent from a </a:t>
            </a:r>
            <a:r>
              <a:rPr lang="en-US" dirty="0" err="1"/>
              <a:t>chatbot</a:t>
            </a:r>
            <a:r>
              <a:rPr lang="en-US" dirty="0"/>
              <a:t> into an intelligent, goal-driven assistant using </a:t>
            </a:r>
            <a:r>
              <a:rPr lang="en-US" b="1" dirty="0"/>
              <a:t>IBM watsonx.ai</a:t>
            </a:r>
            <a:r>
              <a:rPr lang="en-US" dirty="0"/>
              <a:t> and </a:t>
            </a:r>
            <a:r>
              <a:rPr lang="en-US" b="1" dirty="0"/>
              <a:t>Granite Models</a:t>
            </a:r>
            <a:r>
              <a:rPr lang="en-US" dirty="0"/>
              <a:t>. </a:t>
            </a:r>
          </a:p>
          <a:p>
            <a:endParaRPr lang="en-US" b="1" dirty="0" smtClean="0"/>
          </a:p>
          <a:p>
            <a:r>
              <a:rPr lang="en-US" b="1" dirty="0" smtClean="0"/>
              <a:t>Specialized </a:t>
            </a:r>
            <a:r>
              <a:rPr lang="en-US" b="1" dirty="0"/>
              <a:t>AI Agents:</a:t>
            </a:r>
            <a:r>
              <a:rPr lang="en-US" dirty="0"/>
              <a:t> Each agent performs a dedicated task: </a:t>
            </a:r>
          </a:p>
          <a:p>
            <a:pPr lvl="1"/>
            <a:endParaRPr lang="en-US" b="1" dirty="0" smtClean="0"/>
          </a:p>
          <a:p>
            <a:pPr lvl="1"/>
            <a:r>
              <a:rPr lang="en-US" b="1" dirty="0" smtClean="0"/>
              <a:t>Nutrition </a:t>
            </a:r>
            <a:r>
              <a:rPr lang="en-US" b="1" dirty="0"/>
              <a:t>Knowledge Agent:</a:t>
            </a:r>
            <a:r>
              <a:rPr lang="en-US" dirty="0"/>
              <a:t> Retrieves trusted nutrition data. </a:t>
            </a:r>
          </a:p>
          <a:p>
            <a:pPr lvl="1"/>
            <a:endParaRPr lang="en-US" b="1" dirty="0" smtClean="0"/>
          </a:p>
          <a:p>
            <a:pPr lvl="1"/>
            <a:r>
              <a:rPr lang="en-US" b="1" dirty="0" smtClean="0"/>
              <a:t>Diet </a:t>
            </a:r>
            <a:r>
              <a:rPr lang="en-US" b="1" dirty="0"/>
              <a:t>Recommendation Agent:</a:t>
            </a:r>
            <a:r>
              <a:rPr lang="en-US" dirty="0"/>
              <a:t> Generates personalized meal plans. </a:t>
            </a:r>
          </a:p>
          <a:p>
            <a:pPr lvl="1"/>
            <a:endParaRPr lang="en-US" b="1" dirty="0" smtClean="0"/>
          </a:p>
          <a:p>
            <a:pPr lvl="1"/>
            <a:r>
              <a:rPr lang="en-US" b="1" dirty="0" smtClean="0"/>
              <a:t>Health </a:t>
            </a:r>
            <a:r>
              <a:rPr lang="en-US" b="1" dirty="0"/>
              <a:t>Advisory Agent:</a:t>
            </a:r>
            <a:r>
              <a:rPr lang="en-US" dirty="0"/>
              <a:t> Provides preventive and disease-specific dietary guidance. </a:t>
            </a:r>
          </a:p>
          <a:p>
            <a:pPr lvl="1"/>
            <a:endParaRPr lang="en-US" b="1" dirty="0" smtClean="0"/>
          </a:p>
          <a:p>
            <a:pPr lvl="1"/>
            <a:r>
              <a:rPr lang="en-US" b="1" dirty="0" smtClean="0"/>
              <a:t>Food </a:t>
            </a:r>
            <a:r>
              <a:rPr lang="en-US" b="1" dirty="0"/>
              <a:t>Log &amp; Feedback Agent:</a:t>
            </a:r>
            <a:r>
              <a:rPr lang="en-US" dirty="0"/>
              <a:t> Analyzes meals and delivers instant feedback. </a:t>
            </a:r>
          </a:p>
          <a:p>
            <a:endParaRPr lang="en-US" b="1" dirty="0" smtClean="0"/>
          </a:p>
          <a:p>
            <a:r>
              <a:rPr lang="en-US" b="1" dirty="0" smtClean="0"/>
              <a:t>Context-Aware </a:t>
            </a:r>
            <a:r>
              <a:rPr lang="en-US" b="1" dirty="0"/>
              <a:t>Personalization:</a:t>
            </a:r>
            <a:r>
              <a:rPr lang="en-US" dirty="0"/>
              <a:t> Understands user profiles (age, health conditions, allergies, lifestyle, and fitness goals) to provide customized recommendations. </a:t>
            </a:r>
          </a:p>
          <a:p>
            <a:endParaRPr lang="en-US" b="1" dirty="0" smtClean="0"/>
          </a:p>
          <a:p>
            <a:r>
              <a:rPr lang="en-US" b="1" dirty="0" smtClean="0"/>
              <a:t>Real-Time </a:t>
            </a:r>
            <a:r>
              <a:rPr lang="en-US" b="1" dirty="0"/>
              <a:t>Adaptation:</a:t>
            </a:r>
            <a:r>
              <a:rPr lang="en-US" dirty="0"/>
              <a:t> Continuously updates dietary advice based on meal logs, user preferences, and health progress. </a:t>
            </a:r>
          </a:p>
          <a:p>
            <a:endParaRPr lang="en-US" b="1" dirty="0" smtClean="0"/>
          </a:p>
          <a:p>
            <a:r>
              <a:rPr lang="en-US" b="1" dirty="0" smtClean="0"/>
              <a:t>Collaborative </a:t>
            </a:r>
            <a:r>
              <a:rPr lang="en-US" b="1" dirty="0"/>
              <a:t>Decision-Making:</a:t>
            </a:r>
            <a:r>
              <a:rPr lang="en-US" dirty="0"/>
              <a:t> Agents communicate and coordinate to deliver accurate, consistent, and comprehensive nutritional insights. </a:t>
            </a:r>
          </a:p>
          <a:p>
            <a:endParaRPr lang="en-US" b="1" dirty="0" smtClean="0"/>
          </a:p>
          <a:p>
            <a:r>
              <a:rPr lang="en-US" b="1" dirty="0" smtClean="0"/>
              <a:t>Outcome</a:t>
            </a:r>
            <a:r>
              <a:rPr lang="en-US" b="1" dirty="0"/>
              <a:t>:</a:t>
            </a:r>
            <a:r>
              <a:rPr lang="en-US" dirty="0"/>
              <a:t> Agentic AI enables a proactive, personalized, and intelligent digital nutritionist that empowers users to make healthier food choices and achieve long-term wellness goals.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0EE8C-8F89-5938-483F-004520505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95" y="885593"/>
            <a:ext cx="10225373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B9DE6-C4BB-B81B-528A-B8789445C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025" y="1004535"/>
            <a:ext cx="7352252" cy="542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C1B5E-405A-0E58-2397-353A88D82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025" y="800029"/>
            <a:ext cx="8155340" cy="594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0458796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1" dirty="0"/>
              <a:t>Novelty &amp; Uniqueness of the AI-Powered Nutrition Agent</a:t>
            </a:r>
          </a:p>
          <a:p>
            <a:pPr algn="just"/>
            <a:r>
              <a:rPr lang="en-US" sz="1800" b="1" dirty="0"/>
              <a:t>Multi-Agent AI Architecture:</a:t>
            </a:r>
            <a:r>
              <a:rPr lang="en-US" sz="1800" dirty="0"/>
              <a:t> Employs specialized AI agents that collaborate autonomously for nutrition analysis, diet planning, health advisory, and meal tracking. </a:t>
            </a:r>
          </a:p>
          <a:p>
            <a:pPr algn="just"/>
            <a:r>
              <a:rPr lang="en-US" sz="1800" b="1" dirty="0"/>
              <a:t>RAG-Enabled Knowledge Retrieval:</a:t>
            </a:r>
            <a:r>
              <a:rPr lang="en-US" sz="1800" dirty="0"/>
              <a:t> Combines </a:t>
            </a:r>
            <a:r>
              <a:rPr lang="en-US" sz="1800" b="1" dirty="0"/>
              <a:t>Retrieval-Augmented Generation (RAG)</a:t>
            </a:r>
            <a:r>
              <a:rPr lang="en-US" sz="1800" dirty="0"/>
              <a:t> with trusted nutrition databases (e.g., USDA, WHO) to provide accurate, evidence-based recommendations. </a:t>
            </a:r>
          </a:p>
          <a:p>
            <a:pPr algn="just"/>
            <a:r>
              <a:rPr lang="en-US" sz="1800" b="1" dirty="0"/>
              <a:t>Highly Personalized Nutrition:</a:t>
            </a:r>
            <a:r>
              <a:rPr lang="en-US" sz="1800" dirty="0"/>
              <a:t> Generates diet plans tailored to age, medical conditions, allergies, cultural preferences, and fitness goals. </a:t>
            </a:r>
          </a:p>
          <a:p>
            <a:pPr algn="just"/>
            <a:r>
              <a:rPr lang="en-US" sz="1800" b="1" dirty="0"/>
              <a:t>Multimodal Food Logging:</a:t>
            </a:r>
            <a:r>
              <a:rPr lang="en-US" sz="1800" dirty="0"/>
              <a:t> Supports meal tracking through </a:t>
            </a:r>
            <a:r>
              <a:rPr lang="en-US" sz="1800" b="1" dirty="0"/>
              <a:t>text, voice, and image inputs</a:t>
            </a:r>
            <a:r>
              <a:rPr lang="en-US" sz="1800" dirty="0"/>
              <a:t> with instant nutritional analysis. </a:t>
            </a:r>
          </a:p>
          <a:p>
            <a:pPr algn="just"/>
            <a:r>
              <a:rPr lang="en-US" sz="1800" b="1" dirty="0"/>
              <a:t>Preventive Healthcare Focus:</a:t>
            </a:r>
            <a:r>
              <a:rPr lang="en-US" sz="1800" dirty="0"/>
              <a:t> Goes beyond calorie counting by recommending disease-specific diets for conditions such as diabetes and cardiovascular diseases. </a:t>
            </a:r>
          </a:p>
          <a:p>
            <a:pPr algn="just"/>
            <a:r>
              <a:rPr lang="en-US" sz="1800" b="1" dirty="0"/>
              <a:t>Explainable &amp; Responsible AI:</a:t>
            </a:r>
            <a:r>
              <a:rPr lang="en-US" sz="1800" dirty="0"/>
              <a:t> Built on </a:t>
            </a:r>
            <a:r>
              <a:rPr lang="en-US" sz="1800" b="1" dirty="0"/>
              <a:t>IBM watsonx.ai</a:t>
            </a:r>
            <a:r>
              <a:rPr lang="en-US" sz="1800" dirty="0"/>
              <a:t> and </a:t>
            </a:r>
            <a:r>
              <a:rPr lang="en-US" sz="1800" b="1" dirty="0"/>
              <a:t>Granite Models</a:t>
            </a:r>
            <a:r>
              <a:rPr lang="en-US" sz="1800" dirty="0"/>
              <a:t> to ensure transparent, reliable, and scalable AI decision-making. </a:t>
            </a:r>
          </a:p>
          <a:p>
            <a:pPr algn="just"/>
            <a:r>
              <a:rPr lang="en-US" sz="1800" b="1" dirty="0"/>
              <a:t>Real-Time Insights Dashboard:</a:t>
            </a:r>
            <a:r>
              <a:rPr lang="en-US" sz="1800" dirty="0"/>
              <a:t> Provides interactive visualization of nutrient intake, deficiencies, dietary trends, and health progress. </a:t>
            </a:r>
          </a:p>
          <a:p>
            <a:pPr algn="just"/>
            <a:r>
              <a:rPr lang="en-US" sz="1800" b="1" dirty="0"/>
              <a:t>Key Innovation:</a:t>
            </a:r>
            <a:r>
              <a:rPr lang="en-US" sz="1800" dirty="0"/>
              <a:t> An end-to-end </a:t>
            </a:r>
            <a:r>
              <a:rPr lang="en-US" sz="1800" b="1" dirty="0"/>
              <a:t>Agentic AI-powered nutrition ecosystem</a:t>
            </a:r>
            <a:r>
              <a:rPr lang="en-US" sz="1800" dirty="0"/>
              <a:t> that seamlessly integrates intelligent reasoning, trusted knowledge retrieval, personalized recommendations, and real-time health monitoring in a single platform.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 err="1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000" dirty="0" err="1">
                <a:hlinkClick r:id="rId3"/>
              </a:rPr>
              <a:t>jeeNarayan</a:t>
            </a:r>
            <a:r>
              <a:rPr lang="en-US" sz="2000" dirty="0">
                <a:hlinkClick r:id="rId3"/>
              </a:rPr>
              <a:t>/AI-Nutrition-Agent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877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3" y="1221715"/>
            <a:ext cx="9934185" cy="504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US" sz="2000" b="1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/>
              <a:t>Integration with Wearable Devices:</a:t>
            </a:r>
            <a:r>
              <a:rPr lang="en-US" sz="2000" dirty="0"/>
              <a:t> Connect with smartwatches and fitness trackers for real-time monitoring of activity, calories burned, heart rate, and sleep patterns.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/>
              <a:t>AI-Based Health Prediction:</a:t>
            </a:r>
            <a:r>
              <a:rPr lang="en-US" sz="2000" dirty="0"/>
              <a:t> Use predictive analytics to identify nutritional deficiencies and assess the risk of lifestyle diseases before symptoms appear.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 err="1"/>
              <a:t>IoT</a:t>
            </a:r>
            <a:r>
              <a:rPr lang="en-US" sz="2000" b="1" dirty="0"/>
              <a:t> &amp; Smart Kitchen Integration:</a:t>
            </a:r>
            <a:r>
              <a:rPr lang="en-US" sz="2000" dirty="0"/>
              <a:t> Recommend meals based on available ingredients, smart refrigerators, and pantry inventory.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 smtClean="0"/>
              <a:t>Continuous </a:t>
            </a:r>
            <a:r>
              <a:rPr lang="en-US" sz="2000" b="1" dirty="0"/>
              <a:t>Learning &amp; Personalization:</a:t>
            </a:r>
            <a:r>
              <a:rPr lang="en-US" sz="2000" dirty="0"/>
              <a:t> Adapt recommendations over time based on user habits, health progress, and feedback.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/>
              <a:t>Community &amp; Family Nutrition:</a:t>
            </a:r>
            <a:r>
              <a:rPr lang="en-US" sz="2000" dirty="0"/>
              <a:t> Support family meal planning, group health tracking, and wellness challenges. 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Vision</a:t>
            </a:r>
            <a:r>
              <a:rPr lang="en-US" sz="2000" b="1" dirty="0"/>
              <a:t>:</a:t>
            </a:r>
            <a:r>
              <a:rPr lang="en-US" sz="2000" dirty="0"/>
              <a:t> Develop a comprehensive </a:t>
            </a:r>
            <a:r>
              <a:rPr lang="en-US" sz="2000" b="1" dirty="0"/>
              <a:t>AI-driven digital nutrition ecosystem</a:t>
            </a:r>
            <a:r>
              <a:rPr lang="en-US" sz="2000" dirty="0"/>
              <a:t> that delivers personalized, preventive, and accessible healthcare for individuals and communities.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8C341-1F2F-9B6F-593F-2917E7E23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810" y="748146"/>
            <a:ext cx="8663553" cy="5846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8C341-1F2F-9B6F-593F-2917E7E23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728" y="884488"/>
            <a:ext cx="9116290" cy="5627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8C341-1F2F-9B6F-593F-2917E7E23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964" y="748146"/>
            <a:ext cx="8603672" cy="5846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85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8C341-1F2F-9B6F-593F-2917E7E23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964" y="990174"/>
            <a:ext cx="8603672" cy="5362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58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8C341-1F2F-9B6F-593F-2917E7E23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715" y="748146"/>
            <a:ext cx="7768170" cy="5846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79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 b="20640"/>
          <a:stretch/>
        </p:blipFill>
        <p:spPr>
          <a:xfrm>
            <a:off x="0" y="2190302"/>
            <a:ext cx="12192000" cy="1966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1042</Words>
  <Application>Microsoft Office PowerPoint</Application>
  <PresentationFormat>Widescreen</PresentationFormat>
  <Paragraphs>166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User</cp:lastModifiedBy>
  <cp:revision>19</cp:revision>
  <dcterms:created xsi:type="dcterms:W3CDTF">2025-07-08T05:06:56Z</dcterms:created>
  <dcterms:modified xsi:type="dcterms:W3CDTF">2026-07-04T11:46:04Z</dcterms:modified>
</cp:coreProperties>
</file>